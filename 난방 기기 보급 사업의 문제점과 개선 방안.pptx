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7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863" y="1747838"/>
            <a:ext cx="571500" cy="571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688" y="1747838"/>
            <a:ext cx="428625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638" y="1747838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081463"/>
            <a:ext cx="9144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975196" y="2633663"/>
            <a:ext cx="102414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난방 기기 보급 사업의 문제점과 개선 방안</a:t>
            </a:r>
            <a:endParaRPr lang="en-US" sz="3600" dirty="0"/>
          </a:p>
        </p:txBody>
      </p:sp>
      <p:sp>
        <p:nvSpPr>
          <p:cNvPr id="10" name="Text 1"/>
          <p:cNvSpPr/>
          <p:nvPr/>
        </p:nvSpPr>
        <p:spPr>
          <a:xfrm>
            <a:off x="2238375" y="3319463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에너지 효율 검사 제도 일원화 및 정보 공개를 통한 시장 개선 방안</a:t>
            </a:r>
            <a:endParaRPr lang="en-US" sz="1800" dirty="0"/>
          </a:p>
        </p:txBody>
      </p:sp>
      <p:sp>
        <p:nvSpPr>
          <p:cNvPr id="11" name="Text 2"/>
          <p:cNvSpPr/>
          <p:nvPr/>
        </p:nvSpPr>
        <p:spPr>
          <a:xfrm>
            <a:off x="762000" y="4576763"/>
            <a:ext cx="27546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TVTL Energy Solution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762000" y="4843463"/>
            <a:ext cx="27546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탄소중립 정책 관련 의견 제출서</a:t>
            </a:r>
            <a:endParaRPr lang="en-US" sz="1350" dirty="0"/>
          </a:p>
        </p:txBody>
      </p:sp>
      <p:sp>
        <p:nvSpPr>
          <p:cNvPr id="13" name="Text 4"/>
          <p:cNvSpPr/>
          <p:nvPr/>
        </p:nvSpPr>
        <p:spPr>
          <a:xfrm>
            <a:off x="9681210" y="4710113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2025년 11월 1일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810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81100"/>
            <a:ext cx="7010400" cy="1524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097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933700"/>
            <a:ext cx="7010400" cy="1524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1623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686300"/>
            <a:ext cx="7010400" cy="1257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914900"/>
            <a:ext cx="17145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9200" y="1181100"/>
            <a:ext cx="1828800" cy="1828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7838" y="1752600"/>
            <a:ext cx="771525" cy="685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9200" y="3238500"/>
            <a:ext cx="1828800" cy="1828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96425" y="3810000"/>
            <a:ext cx="514350" cy="685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39200" y="5295900"/>
            <a:ext cx="1828800" cy="1828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0700" y="5867400"/>
            <a:ext cx="685800" cy="685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7772400"/>
            <a:ext cx="12192000" cy="381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3429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서론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1181100" y="1409700"/>
            <a:ext cx="37376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탄소중립 정책과 난방 기기 보급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838200" y="1866900"/>
            <a:ext cx="655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정부의 탄소중립 정책 추진과 함께 난방 기기 보급 사업은 국가 온실가스 감축 목표(NDC) 달성에 중요한 역할을 하고 있습니다.</a:t>
            </a:r>
            <a:endParaRPr lang="en-US" sz="1350" dirty="0"/>
          </a:p>
        </p:txBody>
      </p:sp>
      <p:sp>
        <p:nvSpPr>
          <p:cNvPr id="20" name="Text 3"/>
          <p:cNvSpPr/>
          <p:nvPr/>
        </p:nvSpPr>
        <p:spPr>
          <a:xfrm>
            <a:off x="1181100" y="3162300"/>
            <a:ext cx="2606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현행 제도 문제점 진단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838200" y="3619500"/>
            <a:ext cx="655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현재 시행 중인 난방 기기 보급 사업, 특히 히트펌프 에너지 효율 검사 제도에 문제가 있어 이를 진단하고 있습니다.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1123950" y="4914900"/>
            <a:ext cx="1737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개선 방안 제안</a:t>
            </a:r>
            <a:endParaRPr lang="en-US" sz="1800" dirty="0"/>
          </a:p>
        </p:txBody>
      </p:sp>
      <p:sp>
        <p:nvSpPr>
          <p:cNvPr id="23" name="Text 6"/>
          <p:cNvSpPr/>
          <p:nvPr/>
        </p:nvSpPr>
        <p:spPr>
          <a:xfrm>
            <a:off x="838200" y="5372100"/>
            <a:ext cx="7863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진실한 에너지 효율 증진 및 탄소 감축 목표 달성을 위해 실질적인 개선 방안을 제안합니다.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609600" y="74295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TVTL Energy Solution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10601325" y="7429500"/>
            <a:ext cx="1177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2025년 11월 1일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81100"/>
            <a:ext cx="6278761" cy="1371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097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3" y="154305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781300"/>
            <a:ext cx="6278761" cy="1371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0099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363" y="314325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381500"/>
            <a:ext cx="6278761" cy="1371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46101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5" y="474345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93161" y="1485900"/>
            <a:ext cx="4389090" cy="244256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3161" y="4152900"/>
            <a:ext cx="4389090" cy="1714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1761" y="441960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1761" y="4800600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1761" y="5410200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3429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현행 제도의 문제점 (1) - 저효율 제품 확산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562100" y="1409700"/>
            <a:ext cx="5097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중국산 저효율 제품 대량 수입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1562100" y="1790700"/>
            <a:ext cx="5097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정부의 히트펌프 보조금 사업으로 인해 중국산 저효율 제품이 대량 수입되어 시장에 확산되고 있습니다.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1562100" y="3009900"/>
            <a:ext cx="5097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국내 제조사 경쟁력 약화</a:t>
            </a:r>
            <a:endParaRPr lang="en-US" sz="1800" dirty="0"/>
          </a:p>
        </p:txBody>
      </p:sp>
      <p:sp>
        <p:nvSpPr>
          <p:cNvPr id="23" name="Text 4"/>
          <p:cNvSpPr/>
          <p:nvPr/>
        </p:nvSpPr>
        <p:spPr>
          <a:xfrm>
            <a:off x="1562100" y="3390900"/>
            <a:ext cx="5097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핵심 부품으로 일본산을 사용함에도 불구하고 완제품 단가가 낮아 국내 제조사의 경쟁력을 심각하게 위협하고 있습니다.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1562100" y="4610100"/>
            <a:ext cx="5097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탄소 감축 실효성 저하</a:t>
            </a:r>
            <a:endParaRPr lang="en-US" sz="1800" dirty="0"/>
          </a:p>
        </p:txBody>
      </p:sp>
      <p:sp>
        <p:nvSpPr>
          <p:cNvPr id="25" name="Text 6"/>
          <p:cNvSpPr/>
          <p:nvPr/>
        </p:nvSpPr>
        <p:spPr>
          <a:xfrm>
            <a:off x="1562100" y="4991100"/>
            <a:ext cx="5097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에너지 효율이 낮은 제품들이 시장에 확산되어 단기적인 보급 확대에도 불구하고 탄소 감축의 실효性는 떨어질 우려가 큽니다.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7688461" y="4381500"/>
            <a:ext cx="393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장기적 영향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7669411" y="4762500"/>
            <a:ext cx="36842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국내 전기보일러, 이온히팅 등 혁신형 기술의 시장 진입 제한</a:t>
            </a:r>
            <a:endParaRPr lang="en-US" sz="1350" dirty="0"/>
          </a:p>
        </p:txBody>
      </p:sp>
      <p:sp>
        <p:nvSpPr>
          <p:cNvPr id="28" name="Text 9"/>
          <p:cNvSpPr/>
          <p:nvPr/>
        </p:nvSpPr>
        <p:spPr>
          <a:xfrm>
            <a:off x="7669411" y="5372100"/>
            <a:ext cx="4034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에너지 효율 향상을 저해하는 부정적 영향 지속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609600" y="64770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TVTL Energy Solution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11382375" y="6477000"/>
            <a:ext cx="240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3/9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81100"/>
            <a:ext cx="10972800" cy="1257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097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667000"/>
            <a:ext cx="3505200" cy="21050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2857500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00" y="30099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2667000"/>
            <a:ext cx="3505200" cy="21050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1200" y="28575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1700" y="30099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7200" y="2667000"/>
            <a:ext cx="3505200" cy="21050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000" y="28575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5500" y="30099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000625"/>
            <a:ext cx="5372100" cy="12192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5191125"/>
            <a:ext cx="238125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5000625"/>
            <a:ext cx="5372100" cy="12192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5191125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867525"/>
            <a:ext cx="12192000" cy="381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3429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현행 제도의 문제점 (2) - 평가 기준 부재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181100" y="1409700"/>
            <a:ext cx="2868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평가 기준 부재의 문제점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838200" y="1866900"/>
            <a:ext cx="12618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우리나라에는 전기 난방기기에 대한 공식적인 에너지 효율 검사 제도가 부재합니다. 이는 일본(APF), 미국(UEF)과 대조적입니다.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2181225" y="3619500"/>
            <a:ext cx="434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일본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944880" y="4114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APF(Annual Performance Factor)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853440" y="4343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전기 히트펌프 및 보일러 제품 효율 검증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5915025" y="3619500"/>
            <a:ext cx="434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한국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5170170" y="4114800"/>
            <a:ext cx="185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공식적인 평가 기준 부재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4587240" y="4343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특정 제품군(히트펌프)에만 보조금 편중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9648825" y="3619500"/>
            <a:ext cx="434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미국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8629650" y="41148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UEF(Uniform Energy Factor)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8321040" y="4343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전기 히트펌프 및 보일러 제품 효율 검증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1114425" y="5191125"/>
            <a:ext cx="937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시장 왜곡</a:t>
            </a:r>
            <a:endParaRPr lang="en-US" sz="1500" dirty="0"/>
          </a:p>
        </p:txBody>
      </p:sp>
      <p:sp>
        <p:nvSpPr>
          <p:cNvPr id="33" name="Text 13"/>
          <p:cNvSpPr/>
          <p:nvPr/>
        </p:nvSpPr>
        <p:spPr>
          <a:xfrm>
            <a:off x="838200" y="5572125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특정 제품군에만 보조금 편중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838200" y="5800725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고효율 기술 확산 저해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6667500" y="5191125"/>
            <a:ext cx="14401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기술 혁신 제한</a:t>
            </a:r>
            <a:endParaRPr lang="en-US" sz="1500" dirty="0"/>
          </a:p>
        </p:txBody>
      </p:sp>
      <p:sp>
        <p:nvSpPr>
          <p:cNvPr id="36" name="Text 16"/>
          <p:cNvSpPr/>
          <p:nvPr/>
        </p:nvSpPr>
        <p:spPr>
          <a:xfrm>
            <a:off x="6438900" y="5572125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새로운 기술 개발 촉진 어려움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6438900" y="5800725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시장 경쟁 심화 저해</a:t>
            </a:r>
            <a:endParaRPr lang="en-US" sz="1200" dirty="0"/>
          </a:p>
        </p:txBody>
      </p:sp>
      <p:sp>
        <p:nvSpPr>
          <p:cNvPr id="38" name="Text 18"/>
          <p:cNvSpPr/>
          <p:nvPr/>
        </p:nvSpPr>
        <p:spPr>
          <a:xfrm>
            <a:off x="609600" y="652462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TVTL Energy Solution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10601325" y="6524625"/>
            <a:ext cx="1177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2025년 11월 1일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391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81100"/>
            <a:ext cx="10972800" cy="1866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485900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52800"/>
            <a:ext cx="3505200" cy="1790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3505200"/>
            <a:ext cx="762000" cy="762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525" y="371475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3352800"/>
            <a:ext cx="3505200" cy="1790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3505200"/>
            <a:ext cx="762000" cy="762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2175" y="3714750"/>
            <a:ext cx="2476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3352800"/>
            <a:ext cx="3505200" cy="1790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2600" y="3505200"/>
            <a:ext cx="762000" cy="762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44063" y="3714750"/>
            <a:ext cx="219075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5054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550545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7353300"/>
            <a:ext cx="12192000" cy="381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3429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개선 방안 (1) - 효율검사 제도 일원화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1428750" y="1504950"/>
            <a:ext cx="32118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기술 중립적 경쟁 체계 마련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914400" y="2057400"/>
            <a:ext cx="1036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현재 특정 난방기기에만 편중된 보조금 정책의 불균형을 해소하고, 모든 전기 기반 난방기기의 공정한 경쟁을 유도하기 위해 통합 효율검사 제도의 도입이 시급합니다.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838200" y="4419600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히트펌프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518160" y="47625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현재 보조금이 적용되는 주요 난방기기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4495800" y="4419600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전기보일러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4495800" y="47625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차세대 전기 열원 기술 포함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8153400" y="4419600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이온히팅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8153400" y="47625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혁신적 기술의 시장 진입 촉진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838200" y="5448300"/>
            <a:ext cx="20916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효율검사 제도의 이점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723900" y="57912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특정 기술에 대한 편향된 지원 지양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723900" y="60960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시장의 자율적인 기술 혁신 촉진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723900" y="64008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전반적인 에너지 효율 향상 도모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6438900" y="5448300"/>
            <a:ext cx="937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제안 내용</a:t>
            </a:r>
            <a:endParaRPr lang="en-US" sz="1500" dirty="0"/>
          </a:p>
        </p:txBody>
      </p:sp>
      <p:sp>
        <p:nvSpPr>
          <p:cNvPr id="32" name="Text 14"/>
          <p:cNvSpPr/>
          <p:nvPr/>
        </p:nvSpPr>
        <p:spPr>
          <a:xfrm>
            <a:off x="6362700" y="57912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모든 전기 기반 난방기기 대상 통합 평가 체계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6362700" y="60960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공인기관의 객관적 검사 및 평가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6362700" y="64008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기술 중립적 경쟁 환경 조성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609600" y="70104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TVTL Energy Solution</a:t>
            </a:r>
            <a:endParaRPr lang="en-US" sz="1050" dirty="0"/>
          </a:p>
        </p:txBody>
      </p:sp>
      <p:sp>
        <p:nvSpPr>
          <p:cNvPr id="36" name="Text 18"/>
          <p:cNvSpPr/>
          <p:nvPr/>
        </p:nvSpPr>
        <p:spPr>
          <a:xfrm>
            <a:off x="11382375" y="7010400"/>
            <a:ext cx="240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5/9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81100"/>
            <a:ext cx="10972800" cy="914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00300"/>
            <a:ext cx="3505200" cy="2171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450" y="25908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325" y="27051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2400300"/>
            <a:ext cx="3505200" cy="2171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0" y="25908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3125" y="2705100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0" y="2400300"/>
            <a:ext cx="3505200" cy="2171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4050" y="25908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67875" y="2705100"/>
            <a:ext cx="323850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876800"/>
            <a:ext cx="10972800" cy="1181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11201" y="5238750"/>
            <a:ext cx="342900" cy="4572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3429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개선 방안 (2) - 효율 정보 공개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800100" y="1371600"/>
            <a:ext cx="10591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정부는 전기 에너지로 작동하는 모든 난방기기에 대해 통합 효율검사 제도를 마련하고, 공인기관의 객관적인 검사를 통해 산출된 데이터를 투명하게 공개해야 합니다.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800100" y="331470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공인기관 객관검사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800100" y="369570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전기 난방기기의 효율성을 공식적으로 검증할 수 있는 기준과 절차를 마련합니다.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4533900" y="331470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투명한 데이터 공개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4533900" y="369570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에너지 사용량, 효율, 가격 등 소비자가 제품을 비교할 수 있는 정보를 공개합니다.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8267700" y="331470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소비자 합리적 선택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8267700" y="3695700"/>
            <a:ext cx="312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공개된 정보를 바탕으로 소비자는 제품을 구매할 때 직접 비교하여 합리적인 결정을 내릴 수 있습니다.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2565350" y="5067300"/>
            <a:ext cx="8826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기대효과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2565350" y="5410200"/>
            <a:ext cx="88264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정보 공개는 시장에서 고효율 기술이 자연스럽게 주도적인 위치를 차지하게 하며, 보조금 없이도 고효율 제품이 시장을 선도하는 자율 경쟁 환경을 조성할 것입니다.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609600" y="64770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TVTL Energy Solution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10601325" y="6477000"/>
            <a:ext cx="1177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2025년 11월 1일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81100"/>
            <a:ext cx="5181600" cy="2743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097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905000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55270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20040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152900"/>
            <a:ext cx="5181600" cy="1828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381500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1966912"/>
            <a:ext cx="5486400" cy="23526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2614613"/>
            <a:ext cx="2095500" cy="495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728913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39188" y="2709863"/>
            <a:ext cx="200025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58300" y="2614613"/>
            <a:ext cx="2095500" cy="4953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2600" y="2728913"/>
            <a:ext cx="142875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3252788"/>
            <a:ext cx="5029200" cy="381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3595688"/>
            <a:ext cx="2095500" cy="4953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3709988"/>
            <a:ext cx="238125" cy="2667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24900" y="3690937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8300" y="3595688"/>
            <a:ext cx="2095500" cy="4953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72600" y="3709988"/>
            <a:ext cx="238125" cy="2667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0" y="4548188"/>
            <a:ext cx="5486400" cy="8382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20038" y="4776788"/>
            <a:ext cx="342900" cy="3810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3429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기대 효과 (1) - 고효율 시장 형성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1181100" y="1409700"/>
            <a:ext cx="2868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효율 데이터 공개의 영향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1085850" y="186690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에너지 효율 검사 데이터의 투명한 공개는 시장 내 자율 경쟁을 촉진합니다</a:t>
            </a:r>
            <a:endParaRPr lang="en-US" sz="1350" dirty="0"/>
          </a:p>
        </p:txBody>
      </p:sp>
      <p:sp>
        <p:nvSpPr>
          <p:cNvPr id="29" name="Text 3"/>
          <p:cNvSpPr/>
          <p:nvPr/>
        </p:nvSpPr>
        <p:spPr>
          <a:xfrm>
            <a:off x="1085850" y="251460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소비자는 에너지 사용량, 효율, 가격 데이터를 직접 비교하여 합리적인 구매 결정을 내릴 수 있습니다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1085850" y="316230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고효율 기술이 시장을 주도하는 자연스러운 환경이 조성됩니다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1209675" y="4381500"/>
            <a:ext cx="22631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보조금 의존도 감소</a:t>
            </a:r>
            <a:endParaRPr lang="en-US" sz="1800" dirty="0"/>
          </a:p>
        </p:txBody>
      </p:sp>
      <p:sp>
        <p:nvSpPr>
          <p:cNvPr id="32" name="Text 6"/>
          <p:cNvSpPr/>
          <p:nvPr/>
        </p:nvSpPr>
        <p:spPr>
          <a:xfrm>
            <a:off x="838200" y="4838700"/>
            <a:ext cx="4724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고효율 제품 중심의 시장 재편은 보조금에 대한 의존도를 줄이고 시장 원리에 따라 기술 발전이 이루어지는 선순환 구조를 형성합니다.</a:t>
            </a:r>
            <a:endParaRPr lang="en-US" sz="1350" dirty="0"/>
          </a:p>
        </p:txBody>
      </p:sp>
      <p:sp>
        <p:nvSpPr>
          <p:cNvPr id="33" name="Text 7"/>
          <p:cNvSpPr/>
          <p:nvPr/>
        </p:nvSpPr>
        <p:spPr>
          <a:xfrm>
            <a:off x="6324600" y="2195513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시장 재편 과정</a:t>
            </a:r>
            <a:endParaRPr lang="en-US" sz="1500" dirty="0"/>
          </a:p>
        </p:txBody>
      </p:sp>
      <p:sp>
        <p:nvSpPr>
          <p:cNvPr id="34" name="Text 8"/>
          <p:cNvSpPr/>
          <p:nvPr/>
        </p:nvSpPr>
        <p:spPr>
          <a:xfrm>
            <a:off x="6734175" y="2728913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저효율 제품</a:t>
            </a:r>
            <a:endParaRPr lang="en-US" sz="1350" dirty="0"/>
          </a:p>
        </p:txBody>
      </p:sp>
      <p:sp>
        <p:nvSpPr>
          <p:cNvPr id="35" name="Text 9"/>
          <p:cNvSpPr/>
          <p:nvPr/>
        </p:nvSpPr>
        <p:spPr>
          <a:xfrm>
            <a:off x="9591675" y="2728913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고효율 제품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6753225" y="3709988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소비자</a:t>
            </a:r>
            <a:endParaRPr lang="en-US" sz="1350" dirty="0"/>
          </a:p>
        </p:txBody>
      </p:sp>
      <p:sp>
        <p:nvSpPr>
          <p:cNvPr id="37" name="Text 11"/>
          <p:cNvSpPr/>
          <p:nvPr/>
        </p:nvSpPr>
        <p:spPr>
          <a:xfrm>
            <a:off x="9686925" y="3709988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시장</a:t>
            </a:r>
            <a:endParaRPr lang="en-US" sz="1350" dirty="0"/>
          </a:p>
        </p:txBody>
      </p:sp>
      <p:sp>
        <p:nvSpPr>
          <p:cNvPr id="38" name="Text 12"/>
          <p:cNvSpPr/>
          <p:nvPr/>
        </p:nvSpPr>
        <p:spPr>
          <a:xfrm>
            <a:off x="8377238" y="4833938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선순환 구조 형성</a:t>
            </a:r>
            <a:endParaRPr lang="en-US" sz="1500" dirty="0"/>
          </a:p>
        </p:txBody>
      </p:sp>
      <p:sp>
        <p:nvSpPr>
          <p:cNvPr id="39" name="Text 13"/>
          <p:cNvSpPr/>
          <p:nvPr/>
        </p:nvSpPr>
        <p:spPr>
          <a:xfrm>
            <a:off x="609600" y="64770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TVTL Energy Solution</a:t>
            </a:r>
            <a:endParaRPr lang="en-US" sz="1050" dirty="0"/>
          </a:p>
        </p:txBody>
      </p:sp>
      <p:sp>
        <p:nvSpPr>
          <p:cNvPr id="40" name="Text 14"/>
          <p:cNvSpPr/>
          <p:nvPr/>
        </p:nvSpPr>
        <p:spPr>
          <a:xfrm>
            <a:off x="10601325" y="6477000"/>
            <a:ext cx="1177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2025년 11월 1일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009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81100"/>
            <a:ext cx="10972800" cy="800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0970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286000"/>
            <a:ext cx="3505200" cy="2019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2514600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8863" y="2647950"/>
            <a:ext cx="219075" cy="342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2286000"/>
            <a:ext cx="3505200" cy="2019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1200" y="25146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4075" y="2647950"/>
            <a:ext cx="3238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2286000"/>
            <a:ext cx="3505200" cy="2019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8800" y="25146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1675" y="2647950"/>
            <a:ext cx="32385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610100"/>
            <a:ext cx="10972800" cy="1905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05000" y="5257800"/>
            <a:ext cx="8915400" cy="2857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5000" y="5257800"/>
            <a:ext cx="4011811" cy="2857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05000" y="5619750"/>
            <a:ext cx="8915400" cy="2857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05000" y="5619750"/>
            <a:ext cx="8915400" cy="2857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7162800"/>
            <a:ext cx="12192000" cy="381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3429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기대 효과 (2) - NDC 조기 달성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276350" y="1447800"/>
            <a:ext cx="9646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고효율 난방기기 보급 확산은 국가 온실가스 감축 목표(NDC) 조기 달성에 크게 기여할 수 있습니다.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747838" y="327660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에너지 소비 감소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914400" y="3619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효율적인 난방 시스템은 에너지 소비를 줄여 탄소 배출량을 감소시킵니다.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5286375" y="32766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보조 예산 부담 경감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4572000" y="3619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에너지 효율이 높은 제품의 시장 점유율 증가는 정부의 보조 예산 부담을 줄입니다.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8572500" y="3276600"/>
            <a:ext cx="2834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2035년 NDC 목표 조기 달성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8229600" y="3619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이러한 노력은 2035년 국가 온실가스 감축 목표를 조기에 달성하는 현실적인 접근법입니다.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838200" y="483870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NDC 달성까지의 여정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838200" y="528637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현재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10972800" y="528637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2025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838200" y="56483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목표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10972800" y="564832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2035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838200" y="605790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고효율 난방기기 보급은 이 여정에서 핵심적인 역할을 합니다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609600" y="68199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TVTL Energy Solution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10601325" y="6819900"/>
            <a:ext cx="1177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2025년 11월 1일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81100"/>
            <a:ext cx="10972800" cy="990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76500"/>
            <a:ext cx="5372100" cy="1181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67000"/>
            <a:ext cx="526852" cy="571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226" y="28003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2476500"/>
            <a:ext cx="5372100" cy="1181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667000"/>
            <a:ext cx="407194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1522" y="280035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886200"/>
            <a:ext cx="5372100" cy="1181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076700"/>
            <a:ext cx="519410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505" y="421005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886200"/>
            <a:ext cx="5372100" cy="1181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076700"/>
            <a:ext cx="468213" cy="571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032" y="421005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3429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결론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838200" y="1409700"/>
            <a:ext cx="10515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'전기 난방기기 효율검사 제도 일원화'와 '정보 공개를 통한 자율 경쟁 유도'는 지속 가능한 탄소중립 정책의 핵심적인 접근 방식이 될 것입니다.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479352" y="2667000"/>
            <a:ext cx="4311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고효율 시장 형성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479352" y="3009900"/>
            <a:ext cx="4311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시장의 자율 경쟁을 촉진하여 고효율 제품 중심의 시장 재편을 유도합니다.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6960394" y="2667000"/>
            <a:ext cx="44315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보조금 의존도 감소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6960394" y="3009900"/>
            <a:ext cx="4431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정부의 보조금 부담을 줄이고 시장 원리에 따라 기술 발전이 이루어지는 선순환 구조를 형성합니다.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1471910" y="4076700"/>
            <a:ext cx="4319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탄소중립 목표 달성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1471910" y="4419600"/>
            <a:ext cx="4319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2035년 국가 온실가스 감축 목표(NDC)를 조기에 달성하는 데 기여합니다.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7021413" y="4076700"/>
            <a:ext cx="43704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기술 혁신 촉진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7021413" y="4419600"/>
            <a:ext cx="4370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특정 기술에 대한 편향된 지원을 지양하고, 시장의 자율적인 기술 혁신을 촉진합니다.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609600" y="64770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TVTL Energy Solution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10601325" y="6477000"/>
            <a:ext cx="1177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2025년 11월 1일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2025-11-01T04:17:59Z</dcterms:created>
  <dcterms:modified xsi:type="dcterms:W3CDTF">2025-11-01T04:17:59Z</dcterms:modified>
</cp:coreProperties>
</file>